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  <p:embeddedFontLst>
    <p:embeddedFont>
      <p:font typeface="Noto Sans SC" panose="020B0200000000000000" charset="-122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4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609480" y="501120"/>
            <a:ext cx="10972080" cy="104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609480" y="1713240"/>
            <a:ext cx="10972080" cy="362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45.png"/><Relationship Id="rId26" Type="http://schemas.openxmlformats.org/officeDocument/2006/relationships/image" Target="../media/image44.png"/><Relationship Id="rId25" Type="http://schemas.openxmlformats.org/officeDocument/2006/relationships/image" Target="../media/image43.png"/><Relationship Id="rId24" Type="http://schemas.openxmlformats.org/officeDocument/2006/relationships/image" Target="../media/image42.png"/><Relationship Id="rId23" Type="http://schemas.openxmlformats.org/officeDocument/2006/relationships/image" Target="../media/image41.png"/><Relationship Id="rId22" Type="http://schemas.openxmlformats.org/officeDocument/2006/relationships/image" Target="../media/image40.png"/><Relationship Id="rId21" Type="http://schemas.openxmlformats.org/officeDocument/2006/relationships/image" Target="../media/image39.png"/><Relationship Id="rId20" Type="http://schemas.openxmlformats.org/officeDocument/2006/relationships/image" Target="../media/image38.png"/><Relationship Id="rId2" Type="http://schemas.openxmlformats.org/officeDocument/2006/relationships/image" Target="../media/image20.png"/><Relationship Id="rId19" Type="http://schemas.openxmlformats.org/officeDocument/2006/relationships/image" Target="../media/image37.png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图片 14"/>
          <p:cNvPicPr/>
          <p:nvPr/>
        </p:nvPicPr>
        <p:blipFill>
          <a:blip r:embed="rId2"/>
          <a:stretch>
            <a:fillRect/>
          </a:stretch>
        </p:blipFill>
        <p:spPr>
          <a:xfrm>
            <a:off x="10734840" y="19080"/>
            <a:ext cx="1418760" cy="106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1541520" y="1854360"/>
            <a:ext cx="10255652" cy="565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820" b="1" i="0" u="none" strike="noStrike">
                <a:solidFill>
                  <a:srgbClr val="081C4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解构叙事:Al长篇故事生成的可控维度框架</a:t>
            </a:r>
            <a:endParaRPr lang="en-US" sz="38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19400" y="2643480"/>
            <a:ext cx="8336094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0" i="0" u="none" strike="noStrike">
                <a:solidFill>
                  <a:srgbClr val="363E4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为AI驱动的故事生成提供全面可控的理论与实践蓝图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图片 27"/>
          <p:cNvPicPr/>
          <p:nvPr/>
        </p:nvPicPr>
        <p:blipFill>
          <a:blip r:embed="rId2"/>
          <a:stretch>
            <a:fillRect/>
          </a:stretch>
        </p:blipFill>
        <p:spPr>
          <a:xfrm>
            <a:off x="9829800" y="4381560"/>
            <a:ext cx="1285560" cy="88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图片 28"/>
          <p:cNvPicPr/>
          <p:nvPr/>
        </p:nvPicPr>
        <p:blipFill>
          <a:blip r:embed="rId3"/>
          <a:stretch>
            <a:fillRect/>
          </a:stretch>
        </p:blipFill>
        <p:spPr>
          <a:xfrm>
            <a:off x="1143000" y="4848120"/>
            <a:ext cx="1304640" cy="11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图片 29"/>
          <p:cNvPicPr/>
          <p:nvPr/>
        </p:nvPicPr>
        <p:blipFill>
          <a:blip r:embed="rId4"/>
          <a:stretch>
            <a:fillRect/>
          </a:stretch>
        </p:blipFill>
        <p:spPr>
          <a:xfrm>
            <a:off x="9867960" y="2457360"/>
            <a:ext cx="12474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图片 30"/>
          <p:cNvPicPr/>
          <p:nvPr/>
        </p:nvPicPr>
        <p:blipFill>
          <a:blip r:embed="rId5"/>
          <a:stretch>
            <a:fillRect/>
          </a:stretch>
        </p:blipFill>
        <p:spPr>
          <a:xfrm>
            <a:off x="1447920" y="3343320"/>
            <a:ext cx="67608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图片 31"/>
          <p:cNvPicPr/>
          <p:nvPr/>
        </p:nvPicPr>
        <p:blipFill>
          <a:blip r:embed="rId6"/>
          <a:stretch>
            <a:fillRect/>
          </a:stretch>
        </p:blipFill>
        <p:spPr>
          <a:xfrm>
            <a:off x="5991120" y="3143160"/>
            <a:ext cx="2376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图片 32"/>
          <p:cNvPicPr/>
          <p:nvPr/>
        </p:nvPicPr>
        <p:blipFill>
          <a:blip r:embed="rId7"/>
          <a:stretch>
            <a:fillRect/>
          </a:stretch>
        </p:blipFill>
        <p:spPr>
          <a:xfrm>
            <a:off x="5705640" y="3514680"/>
            <a:ext cx="952200" cy="9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图片 33"/>
          <p:cNvPicPr/>
          <p:nvPr/>
        </p:nvPicPr>
        <p:blipFill>
          <a:blip r:embed="rId8"/>
          <a:stretch>
            <a:fillRect/>
          </a:stretch>
        </p:blipFill>
        <p:spPr>
          <a:xfrm>
            <a:off x="5295960" y="4343400"/>
            <a:ext cx="22824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文本框 34"/>
          <p:cNvSpPr txBox="1"/>
          <p:nvPr/>
        </p:nvSpPr>
        <p:spPr>
          <a:xfrm>
            <a:off x="489960" y="432720"/>
            <a:ext cx="4309006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550" b="1" i="0" u="none" strike="noStrike">
                <a:solidFill>
                  <a:srgbClr val="0C0D1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引言:叙事控制的基础维度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106280" y="144036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D0F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研究背景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443200" y="1422720"/>
            <a:ext cx="1518259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70" b="1" i="0" u="none" strike="noStrike">
                <a:solidFill>
                  <a:srgbClr val="0C0E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核心框架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781200" y="1440360"/>
            <a:ext cx="1426057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1" i="0" u="none" strike="noStrike">
                <a:solidFill>
                  <a:srgbClr val="0D102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研究意义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8160" y="1974600"/>
            <a:ext cx="22631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025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将复杂的叙事艺术解构为可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373320" y="1955520"/>
            <a:ext cx="222187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F264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实现AI叙事生成的精确控制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328000" y="2131920"/>
            <a:ext cx="1557877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1A204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1.情节与叙事结构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8880" y="2211840"/>
            <a:ext cx="2324608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2025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被机器理解和操作的独立维度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38400" y="2343240"/>
            <a:ext cx="78871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22274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("何事")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68160" y="2650680"/>
            <a:ext cx="223263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025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为AI驱动的故事生成提供全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68880" y="2908080"/>
            <a:ext cx="22631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025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面、可控的理论与实践蓝图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481560" y="3104280"/>
            <a:ext cx="163209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71C3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2.人物与心理弧光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320960" y="3104280"/>
            <a:ext cx="131992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i="0" u="none" strike="noStrike">
                <a:solidFill>
                  <a:srgbClr val="181D4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4.世界与设定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555320" y="3324240"/>
            <a:ext cx="78907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F2442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("何地")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922200" y="3333600"/>
            <a:ext cx="78727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F234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("何人")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401760" y="3632400"/>
            <a:ext cx="2197481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1E234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推动人机协作创作的新范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402480" y="3843360"/>
            <a:ext cx="220726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80" b="0" i="0" u="none" strike="noStrike">
                <a:solidFill>
                  <a:srgbClr val="1E234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68880" y="4165200"/>
            <a:ext cx="220072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E2545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解决当前AI叙事生成缺乏系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8880" y="4403520"/>
            <a:ext cx="132016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E2545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统性控制的问题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686760" y="4570920"/>
            <a:ext cx="121551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71D4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3.世界与设定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20960" y="4570920"/>
            <a:ext cx="131992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i="0" u="none" strike="noStrike">
                <a:solidFill>
                  <a:srgbClr val="181D4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4.风格与声音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922200" y="4800600"/>
            <a:ext cx="78727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F244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("何地")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468200" y="4799520"/>
            <a:ext cx="957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E23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("如何讲")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328000" y="5523480"/>
            <a:ext cx="162777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171D4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5.主题与主旨陈述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9490320" y="5508360"/>
            <a:ext cx="180598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D23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为文学创作与AI技术的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739120" y="5753160"/>
            <a:ext cx="78727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80" b="0" i="0" u="none" strike="noStrike">
                <a:solidFill>
                  <a:srgbClr val="1D213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("为何")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490320" y="5756040"/>
            <a:ext cx="15087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1D234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融合提供理论支持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097880" y="6374520"/>
            <a:ext cx="4035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80" b="0" i="0" u="none" strike="noStrike">
                <a:solidFill>
                  <a:srgbClr val="4F5A6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理解维度的独立性与相互作用是实现精确AI控制的关键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9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图片 93"/>
          <p:cNvPicPr/>
          <p:nvPr/>
        </p:nvPicPr>
        <p:blipFill>
          <a:blip r:embed="rId2"/>
          <a:stretch>
            <a:fillRect/>
          </a:stretch>
        </p:blipFill>
        <p:spPr>
          <a:xfrm>
            <a:off x="10115640" y="1104840"/>
            <a:ext cx="1076040" cy="84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图片 94"/>
          <p:cNvPicPr/>
          <p:nvPr/>
        </p:nvPicPr>
        <p:blipFill>
          <a:blip r:embed="rId3"/>
          <a:stretch>
            <a:fillRect/>
          </a:stretch>
        </p:blipFill>
        <p:spPr>
          <a:xfrm>
            <a:off x="6172200" y="1819440"/>
            <a:ext cx="2808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图片 95"/>
          <p:cNvPicPr/>
          <p:nvPr/>
        </p:nvPicPr>
        <p:blipFill>
          <a:blip r:embed="rId4"/>
          <a:stretch>
            <a:fillRect/>
          </a:stretch>
        </p:blipFill>
        <p:spPr>
          <a:xfrm>
            <a:off x="838080" y="184788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图片 96"/>
          <p:cNvPicPr/>
          <p:nvPr/>
        </p:nvPicPr>
        <p:blipFill>
          <a:blip r:embed="rId5"/>
          <a:stretch>
            <a:fillRect/>
          </a:stretch>
        </p:blipFill>
        <p:spPr>
          <a:xfrm>
            <a:off x="838080" y="3619440"/>
            <a:ext cx="1998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文本框 97"/>
          <p:cNvSpPr txBox="1"/>
          <p:nvPr/>
        </p:nvSpPr>
        <p:spPr>
          <a:xfrm>
            <a:off x="515520" y="329400"/>
            <a:ext cx="1728787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750" b="1" i="0" u="none" strike="noStrike">
                <a:solidFill>
                  <a:srgbClr val="08080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维度一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958040" y="340560"/>
            <a:ext cx="475920" cy="53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750" b="1" i="0" u="none" strike="noStrike">
                <a:solidFill>
                  <a:srgbClr val="08080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: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121120" y="329400"/>
            <a:ext cx="4033837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750" b="1" i="0" u="none" strike="noStrike">
                <a:solidFill>
                  <a:srgbClr val="08080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情节与叙事结构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486400" y="340560"/>
            <a:ext cx="1979010" cy="556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750" b="1" i="0" u="none" strike="noStrike">
                <a:solidFill>
                  <a:srgbClr val="08080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("何事")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162080" y="1703880"/>
            <a:ext cx="184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00" b="1" i="0" u="none" strike="noStrike">
                <a:solidFill>
                  <a:srgbClr val="0A0A0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核心概念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28240" y="1831680"/>
            <a:ext cx="463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u="none" strike="noStrike">
                <a:solidFill>
                  <a:srgbClr val="0D0D0F"/>
                </a:solidFill>
                <a:effectLst/>
                <a:uFillTx/>
                <a:latin typeface="NotoSansCJKsc"/>
                <a:ea typeface="NotoSansCJKsc"/>
              </a:rPr>
              <a:t>情 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7450200" y="1838880"/>
            <a:ext cx="1408176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1" i="0" u="none" strike="noStrike">
                <a:solidFill>
                  <a:srgbClr val="0D0D0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(Plot):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163520" y="2318760"/>
            <a:ext cx="4929795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550" b="0" i="0" u="none" strike="noStrike">
                <a:solidFill>
                  <a:srgbClr val="15151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故事(Story):事件的原始时间顺序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527520" y="2316960"/>
            <a:ext cx="4754784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16181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对事件的艺术性编排,创造情感效果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162800" y="3456360"/>
            <a:ext cx="1844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00" b="1" i="0" u="none" strike="noStrike">
                <a:solidFill>
                  <a:srgbClr val="0A0A0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宏观结构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164240" y="4081680"/>
            <a:ext cx="10373687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三幕式结构:布局(Setup)→对抗(Confrontation)→结局(Resolution)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1164960" y="4593960"/>
            <a:ext cx="134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英雄之旅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407320" y="46008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2497680" y="4593960"/>
            <a:ext cx="134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平凡世界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3740040" y="4600800"/>
            <a:ext cx="30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→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050720" y="4593960"/>
            <a:ext cx="134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冒险召唤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5293080" y="46008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0" u="none" strike="noStrike">
                <a:solidFill>
                  <a:srgbClr val="12131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383800" y="4593960"/>
            <a:ext cx="134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拒绝召唤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6626160" y="46008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0" u="none" strike="noStrike">
                <a:solidFill>
                  <a:srgbClr val="12131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6716520" y="4593960"/>
            <a:ext cx="1676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与导师相遇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8269560" y="460080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400" b="0" u="none" strike="noStrike">
                <a:solidFill>
                  <a:srgbClr val="121319"/>
                </a:solidFill>
                <a:effectLst/>
                <a:uFillTx/>
                <a:latin typeface="Arial" panose="020B0604020202020204"/>
                <a:ea typeface="Arial" panose="020B0604020202020204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8360280" y="4593960"/>
            <a:ext cx="2346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跨越第一个阈限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64960" y="5040360"/>
            <a:ext cx="1041399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考验盟友与敌人→接近最深的洞穴一磨难,报偿,回妇之路》复活一携万能药回归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1164960" y="5526000"/>
            <a:ext cx="4704615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12131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其他结构:五幕式结构、费希特曲线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627360" y="6303600"/>
            <a:ext cx="5363265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D212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宏观结构为AI生成提供高层次的模板和控制逻辑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图片 14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图片 146"/>
          <p:cNvPicPr/>
          <p:nvPr/>
        </p:nvPicPr>
        <p:blipFill>
          <a:blip r:embed="rId2"/>
          <a:stretch>
            <a:fillRect/>
          </a:stretch>
        </p:blipFill>
        <p:spPr>
          <a:xfrm>
            <a:off x="1266840" y="4276800"/>
            <a:ext cx="3771360" cy="14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图片 147"/>
          <p:cNvPicPr/>
          <p:nvPr/>
        </p:nvPicPr>
        <p:blipFill>
          <a:blip r:embed="rId3"/>
          <a:stretch>
            <a:fillRect/>
          </a:stretch>
        </p:blipFill>
        <p:spPr>
          <a:xfrm>
            <a:off x="7667640" y="5095800"/>
            <a:ext cx="923400" cy="66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文本框 148"/>
          <p:cNvSpPr txBox="1"/>
          <p:nvPr/>
        </p:nvSpPr>
        <p:spPr>
          <a:xfrm>
            <a:off x="834480" y="419400"/>
            <a:ext cx="2420302" cy="77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5250" b="1" i="0" u="none" strike="noStrike">
                <a:solidFill>
                  <a:srgbClr val="06060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维度二</a:t>
            </a:r>
            <a:endParaRPr lang="en-US" sz="5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871000" y="434880"/>
            <a:ext cx="666360" cy="74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250" b="1" i="0" u="none" strike="noStrike">
                <a:solidFill>
                  <a:srgbClr val="06060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:</a:t>
            </a:r>
            <a:endParaRPr lang="en-US" sz="5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105000" y="419400"/>
            <a:ext cx="5647372" cy="77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5250" b="1" i="0" u="none" strike="noStrike">
                <a:solidFill>
                  <a:srgbClr val="06060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人物与心理弧光</a:t>
            </a:r>
            <a:endParaRPr lang="en-US" sz="5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7856280" y="434880"/>
            <a:ext cx="2788110" cy="77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250" b="1" i="0" u="none" strike="noStrike">
                <a:solidFill>
                  <a:srgbClr val="06060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("何人")</a:t>
            </a:r>
            <a:endParaRPr lang="en-US" sz="5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812520" y="1538640"/>
            <a:ext cx="3215341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1" i="0" u="none" strike="noStrike">
                <a:solidFill>
                  <a:srgbClr val="0B0B0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人物塑造:静态蓝图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524000" y="1538640"/>
            <a:ext cx="3233701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1" i="0" u="none" strike="noStrike">
                <a:solidFill>
                  <a:srgbClr val="0B0B0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人物弧光:动态旅程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813960" y="2037960"/>
            <a:ext cx="3333276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核心三要素:欲望(Desire)→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6646320" y="2028960"/>
            <a:ext cx="482427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积极弧光(Positive Arc):克服缺陷,成为更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814680" y="2360880"/>
            <a:ext cx="378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1A191A"/>
                </a:solidFill>
                <a:effectLst/>
                <a:uFillTx/>
                <a:latin typeface="NotoSansCJKsc"/>
                <a:ea typeface="NotoSansCJKsc"/>
              </a:rPr>
              <a:t>需 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495800" y="2366640"/>
            <a:ext cx="104013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(Need)→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2593440" y="2360880"/>
            <a:ext cx="3780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950" b="0" u="none" strike="noStrike">
                <a:solidFill>
                  <a:srgbClr val="1A191A"/>
                </a:solidFill>
                <a:effectLst/>
                <a:uFillTx/>
                <a:latin typeface="NotoSansCJKsc"/>
                <a:ea typeface="NotoSansCJKsc"/>
              </a:rPr>
              <a:t>缺 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274560" y="2366640"/>
            <a:ext cx="8915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95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(Flaw)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6647040" y="2378520"/>
            <a:ext cx="7543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好的人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13960" y="2797200"/>
            <a:ext cx="453183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原型作为基础模型:英雄、导师、反派、变形者、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6644880" y="2799720"/>
            <a:ext cx="4801228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消极弧光(Negative Arc):被缺陷吞噬,陷入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814680" y="3111480"/>
            <a:ext cx="2146623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引路人、小丑/捣蛋鬼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646320" y="3101760"/>
            <a:ext cx="1207706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绝望或堕落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13960" y="3654360"/>
            <a:ext cx="391873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呈现方式:行动、对话、外貌、思想、关系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6647040" y="3808080"/>
            <a:ext cx="4755233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平坦弧光(Flat Arc):内心完整,改变周围世界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6646320" y="4379040"/>
            <a:ext cx="5025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高级框架:原型生命周期弧光、九型人格、螺旋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6646320" y="4683600"/>
            <a:ext cx="7543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A191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动力学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919680" y="6077880"/>
            <a:ext cx="4850384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i="0" u="none" strike="noStrike">
                <a:solidFill>
                  <a:srgbClr val="16161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人物弧光是衡量角色动态发展的核心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图片 1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图片 200"/>
          <p:cNvPicPr/>
          <p:nvPr/>
        </p:nvPicPr>
        <p:blipFill>
          <a:blip r:embed="rId2"/>
          <a:stretch>
            <a:fillRect/>
          </a:stretch>
        </p:blipFill>
        <p:spPr>
          <a:xfrm>
            <a:off x="3219480" y="1409760"/>
            <a:ext cx="199044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图片 201"/>
          <p:cNvPicPr/>
          <p:nvPr/>
        </p:nvPicPr>
        <p:blipFill>
          <a:blip r:embed="rId3"/>
          <a:stretch>
            <a:fillRect/>
          </a:stretch>
        </p:blipFill>
        <p:spPr>
          <a:xfrm>
            <a:off x="4838760" y="3200400"/>
            <a:ext cx="1275840" cy="12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图片 202"/>
          <p:cNvPicPr/>
          <p:nvPr/>
        </p:nvPicPr>
        <p:blipFill>
          <a:blip r:embed="rId4"/>
          <a:stretch>
            <a:fillRect/>
          </a:stretch>
        </p:blipFill>
        <p:spPr>
          <a:xfrm>
            <a:off x="4876920" y="4991040"/>
            <a:ext cx="1123560" cy="12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图片 203"/>
          <p:cNvPicPr/>
          <p:nvPr/>
        </p:nvPicPr>
        <p:blipFill>
          <a:blip r:embed="rId5"/>
          <a:stretch>
            <a:fillRect/>
          </a:stretch>
        </p:blipFill>
        <p:spPr>
          <a:xfrm>
            <a:off x="6048360" y="1428840"/>
            <a:ext cx="894960" cy="46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图片 204"/>
          <p:cNvPicPr/>
          <p:nvPr/>
        </p:nvPicPr>
        <p:blipFill>
          <a:blip r:embed="rId6"/>
          <a:stretch>
            <a:fillRect/>
          </a:stretch>
        </p:blipFill>
        <p:spPr>
          <a:xfrm>
            <a:off x="7915320" y="3238560"/>
            <a:ext cx="53316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图片 205"/>
          <p:cNvPicPr/>
          <p:nvPr/>
        </p:nvPicPr>
        <p:blipFill>
          <a:blip r:embed="rId7"/>
          <a:stretch>
            <a:fillRect/>
          </a:stretch>
        </p:blipFill>
        <p:spPr>
          <a:xfrm>
            <a:off x="10534680" y="5000760"/>
            <a:ext cx="53316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图片 206"/>
          <p:cNvPicPr/>
          <p:nvPr/>
        </p:nvPicPr>
        <p:blipFill>
          <a:blip r:embed="rId8"/>
          <a:stretch>
            <a:fillRect/>
          </a:stretch>
        </p:blipFill>
        <p:spPr>
          <a:xfrm>
            <a:off x="2819520" y="5248440"/>
            <a:ext cx="676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图片 207"/>
          <p:cNvPicPr/>
          <p:nvPr/>
        </p:nvPicPr>
        <p:blipFill>
          <a:blip r:embed="rId9"/>
          <a:stretch>
            <a:fillRect/>
          </a:stretch>
        </p:blipFill>
        <p:spPr>
          <a:xfrm>
            <a:off x="8201160" y="1380960"/>
            <a:ext cx="83772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图片 208"/>
          <p:cNvPicPr/>
          <p:nvPr/>
        </p:nvPicPr>
        <p:blipFill>
          <a:blip r:embed="rId10"/>
          <a:stretch>
            <a:fillRect/>
          </a:stretch>
        </p:blipFill>
        <p:spPr>
          <a:xfrm>
            <a:off x="9420120" y="1419120"/>
            <a:ext cx="533160" cy="5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图片 209"/>
          <p:cNvPicPr/>
          <p:nvPr/>
        </p:nvPicPr>
        <p:blipFill>
          <a:blip r:embed="rId11"/>
          <a:stretch>
            <a:fillRect/>
          </a:stretch>
        </p:blipFill>
        <p:spPr>
          <a:xfrm>
            <a:off x="9667800" y="5000760"/>
            <a:ext cx="53316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图片 210"/>
          <p:cNvPicPr/>
          <p:nvPr/>
        </p:nvPicPr>
        <p:blipFill>
          <a:blip r:embed="rId12"/>
          <a:stretch>
            <a:fillRect/>
          </a:stretch>
        </p:blipFill>
        <p:spPr>
          <a:xfrm>
            <a:off x="7086600" y="3238560"/>
            <a:ext cx="53316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图片 211"/>
          <p:cNvPicPr/>
          <p:nvPr/>
        </p:nvPicPr>
        <p:blipFill>
          <a:blip r:embed="rId13"/>
          <a:stretch>
            <a:fillRect/>
          </a:stretch>
        </p:blipFill>
        <p:spPr>
          <a:xfrm>
            <a:off x="7943760" y="5000760"/>
            <a:ext cx="53316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图片 212"/>
          <p:cNvPicPr/>
          <p:nvPr/>
        </p:nvPicPr>
        <p:blipFill>
          <a:blip r:embed="rId14"/>
          <a:stretch>
            <a:fillRect/>
          </a:stretch>
        </p:blipFill>
        <p:spPr>
          <a:xfrm>
            <a:off x="7086600" y="5000760"/>
            <a:ext cx="52344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图片 213"/>
          <p:cNvPicPr/>
          <p:nvPr/>
        </p:nvPicPr>
        <p:blipFill>
          <a:blip r:embed="rId15"/>
          <a:stretch>
            <a:fillRect/>
          </a:stretch>
        </p:blipFill>
        <p:spPr>
          <a:xfrm>
            <a:off x="2819520" y="3495600"/>
            <a:ext cx="676080" cy="73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图片 214"/>
          <p:cNvPicPr/>
          <p:nvPr/>
        </p:nvPicPr>
        <p:blipFill>
          <a:blip r:embed="rId16"/>
          <a:stretch>
            <a:fillRect/>
          </a:stretch>
        </p:blipFill>
        <p:spPr>
          <a:xfrm>
            <a:off x="8810640" y="5000760"/>
            <a:ext cx="52344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图片 215"/>
          <p:cNvPicPr/>
          <p:nvPr/>
        </p:nvPicPr>
        <p:blipFill>
          <a:blip r:embed="rId17"/>
          <a:stretch>
            <a:fillRect/>
          </a:stretch>
        </p:blipFill>
        <p:spPr>
          <a:xfrm>
            <a:off x="3857760" y="3619440"/>
            <a:ext cx="47592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图片 216"/>
          <p:cNvPicPr/>
          <p:nvPr/>
        </p:nvPicPr>
        <p:blipFill>
          <a:blip r:embed="rId18"/>
          <a:stretch>
            <a:fillRect/>
          </a:stretch>
        </p:blipFill>
        <p:spPr>
          <a:xfrm>
            <a:off x="7286760" y="1419120"/>
            <a:ext cx="533160" cy="5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图片 217"/>
          <p:cNvPicPr/>
          <p:nvPr/>
        </p:nvPicPr>
        <p:blipFill>
          <a:blip r:embed="rId19"/>
          <a:stretch>
            <a:fillRect/>
          </a:stretch>
        </p:blipFill>
        <p:spPr>
          <a:xfrm>
            <a:off x="3857760" y="5381640"/>
            <a:ext cx="47592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图片 218"/>
          <p:cNvPicPr/>
          <p:nvPr/>
        </p:nvPicPr>
        <p:blipFill>
          <a:blip r:embed="rId20"/>
          <a:stretch>
            <a:fillRect/>
          </a:stretch>
        </p:blipFill>
        <p:spPr>
          <a:xfrm>
            <a:off x="1905120" y="5391000"/>
            <a:ext cx="46620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图片 219"/>
          <p:cNvPicPr/>
          <p:nvPr/>
        </p:nvPicPr>
        <p:blipFill>
          <a:blip r:embed="rId21"/>
          <a:stretch>
            <a:fillRect/>
          </a:stretch>
        </p:blipFill>
        <p:spPr>
          <a:xfrm>
            <a:off x="1905120" y="3610080"/>
            <a:ext cx="4852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图片 220"/>
          <p:cNvPicPr/>
          <p:nvPr/>
        </p:nvPicPr>
        <p:blipFill>
          <a:blip r:embed="rId22"/>
          <a:stretch>
            <a:fillRect/>
          </a:stretch>
        </p:blipFill>
        <p:spPr>
          <a:xfrm>
            <a:off x="561960" y="1333440"/>
            <a:ext cx="990360" cy="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图片 221"/>
          <p:cNvPicPr/>
          <p:nvPr/>
        </p:nvPicPr>
        <p:blipFill>
          <a:blip r:embed="rId23"/>
          <a:stretch>
            <a:fillRect/>
          </a:stretch>
        </p:blipFill>
        <p:spPr>
          <a:xfrm>
            <a:off x="561960" y="3171960"/>
            <a:ext cx="990360" cy="4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/>
          <p:cNvPicPr/>
          <p:nvPr/>
        </p:nvPicPr>
        <p:blipFill>
          <a:blip r:embed="rId24"/>
          <a:stretch>
            <a:fillRect/>
          </a:stretch>
        </p:blipFill>
        <p:spPr>
          <a:xfrm>
            <a:off x="5438880" y="1990800"/>
            <a:ext cx="23760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图片 223"/>
          <p:cNvPicPr/>
          <p:nvPr/>
        </p:nvPicPr>
        <p:blipFill>
          <a:blip r:embed="rId25"/>
          <a:stretch>
            <a:fillRect/>
          </a:stretch>
        </p:blipFill>
        <p:spPr>
          <a:xfrm>
            <a:off x="6410160" y="5600520"/>
            <a:ext cx="25668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图片 224"/>
          <p:cNvPicPr/>
          <p:nvPr/>
        </p:nvPicPr>
        <p:blipFill>
          <a:blip r:embed="rId26"/>
          <a:stretch>
            <a:fillRect/>
          </a:stretch>
        </p:blipFill>
        <p:spPr>
          <a:xfrm>
            <a:off x="6410160" y="3838680"/>
            <a:ext cx="25668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图片 225"/>
          <p:cNvPicPr/>
          <p:nvPr/>
        </p:nvPicPr>
        <p:blipFill>
          <a:blip r:embed="rId27"/>
          <a:stretch>
            <a:fillRect/>
          </a:stretch>
        </p:blipFill>
        <p:spPr>
          <a:xfrm>
            <a:off x="561960" y="4943520"/>
            <a:ext cx="99036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文本框 226"/>
          <p:cNvSpPr txBox="1"/>
          <p:nvPr/>
        </p:nvSpPr>
        <p:spPr>
          <a:xfrm>
            <a:off x="489240" y="396720"/>
            <a:ext cx="1281607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1" i="0" u="none" strike="noStrike">
                <a:solidFill>
                  <a:srgbClr val="0B0B0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维度三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1553400" y="405000"/>
            <a:ext cx="352080" cy="39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80" b="1" i="0" u="none" strike="noStrike">
                <a:solidFill>
                  <a:srgbClr val="0B0B0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: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1672920" y="396720"/>
            <a:ext cx="2136013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1" i="0" u="none" strike="noStrike">
                <a:solidFill>
                  <a:srgbClr val="0B0B0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世界与设定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446280" y="405000"/>
            <a:ext cx="1462159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80" b="1" i="0" u="none" strike="noStrike">
                <a:solidFill>
                  <a:srgbClr val="0B0B0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("何地")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491400" y="953280"/>
            <a:ext cx="2713825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i="0" u="none" strike="noStrike">
                <a:solidFill>
                  <a:srgbClr val="0D0E0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物理世界:地理与环境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5974200" y="2089440"/>
            <a:ext cx="5242278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430" b="0" i="0" u="none" strike="noStrike">
                <a:solidFill>
                  <a:srgbClr val="22283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核心要素:地理(地图、山脉、河流、沙漠、森林)、气候、自然环境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5973480" y="2388960"/>
            <a:ext cx="503683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22283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AI控制:生成详细地理描述、生态系统,模拟地理对社会的影响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491400" y="2791080"/>
            <a:ext cx="2810175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1" i="0" u="none" strike="noStrike">
                <a:solidFill>
                  <a:srgbClr val="0D0D0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社会世界:文化与政治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8637840" y="3281400"/>
            <a:ext cx="3220923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1" i="0" u="none" strike="noStrike">
                <a:solidFill>
                  <a:srgbClr val="0D16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政治体系文化传统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7028640" y="3889080"/>
            <a:ext cx="49095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2283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核心要素:社会结构(阶级制度、治理模式)、政治体系、文化传统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7028640" y="4198680"/>
            <a:ext cx="3585165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430" b="0" i="0" u="none" strike="noStrike">
                <a:solidFill>
                  <a:srgbClr val="22283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AI控制:生成社会规则、价值观、历史背景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491400" y="4563360"/>
            <a:ext cx="2872239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1" i="0" u="none" strike="noStrike">
                <a:solidFill>
                  <a:srgbClr val="0E0E0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概念世界:规则与传说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7028640" y="5660640"/>
            <a:ext cx="339345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0273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核心要素:魔法系统、科技规则、神话传说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7028640" y="5969520"/>
            <a:ext cx="379399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20273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AI控制:生成世界观规则、历史事件、神话体系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4245120" y="6422760"/>
            <a:ext cx="3960495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350" b="0" i="0" u="none" strike="noStrike">
                <a:solidFill>
                  <a:srgbClr val="20273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故事世界是深刻影响并约束其他所有维度的系统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图片 27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图片 275"/>
          <p:cNvPicPr/>
          <p:nvPr/>
        </p:nvPicPr>
        <p:blipFill>
          <a:blip r:embed="rId2"/>
          <a:stretch>
            <a:fillRect/>
          </a:stretch>
        </p:blipFill>
        <p:spPr>
          <a:xfrm>
            <a:off x="10325160" y="2238480"/>
            <a:ext cx="1085400" cy="119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图片 276"/>
          <p:cNvPicPr/>
          <p:nvPr/>
        </p:nvPicPr>
        <p:blipFill>
          <a:blip r:embed="rId3"/>
          <a:stretch>
            <a:fillRect/>
          </a:stretch>
        </p:blipFill>
        <p:spPr>
          <a:xfrm>
            <a:off x="5334120" y="4257720"/>
            <a:ext cx="1180800" cy="11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图片 277"/>
          <p:cNvPicPr/>
          <p:nvPr/>
        </p:nvPicPr>
        <p:blipFill>
          <a:blip r:embed="rId4"/>
          <a:stretch>
            <a:fillRect/>
          </a:stretch>
        </p:blipFill>
        <p:spPr>
          <a:xfrm>
            <a:off x="7039080" y="1219320"/>
            <a:ext cx="47160" cy="42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文本框 278"/>
          <p:cNvSpPr txBox="1"/>
          <p:nvPr/>
        </p:nvSpPr>
        <p:spPr>
          <a:xfrm>
            <a:off x="401400" y="348480"/>
            <a:ext cx="4606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0" i="0" u="none" strike="noStrike">
                <a:solidFill>
                  <a:srgbClr val="0E0E0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维度四:风格与声音("问何讲")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1071000" y="1164240"/>
            <a:ext cx="2469896" cy="65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420" b="0" i="0" u="none" strike="noStrike">
                <a:solidFill>
                  <a:srgbClr val="0B0B0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叙事视角</a:t>
            </a:r>
            <a:endParaRPr lang="en-US" sz="44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7489440" y="1173240"/>
            <a:ext cx="3708279" cy="64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350" b="1" i="0" u="none" strike="noStrike">
                <a:solidFill>
                  <a:srgbClr val="0A0A0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声音(Voice)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3360240" y="1337400"/>
            <a:ext cx="411480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0" i="0" u="none" strike="noStrike">
                <a:solidFill>
                  <a:srgbClr val="0E0E0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(Point of View, POV)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1077120" y="1972440"/>
            <a:ext cx="3925341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i="0" u="none" strike="noStrike">
                <a:solidFill>
                  <a:srgbClr val="1D213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第一人称:以主角视角讲述故事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7495200" y="1981440"/>
            <a:ext cx="264033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D213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叙述者的个性和风格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1077120" y="2409840"/>
            <a:ext cx="58323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D213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第三人称全知:作者知道所有角色的思想和感受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495200" y="2409840"/>
            <a:ext cx="264033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D213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正式与非正式的语言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1076040" y="2810160"/>
            <a:ext cx="554361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D213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第三人称有限:只知道一个或几个角色的思想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7524720" y="2838600"/>
            <a:ext cx="234696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D213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幽默与严肃的语气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1106280" y="3229920"/>
            <a:ext cx="3319763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i="0" u="none" strike="noStrike">
                <a:solidFill>
                  <a:srgbClr val="1D213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第二人称:直接与读者对话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7489440" y="4107600"/>
            <a:ext cx="3366266" cy="65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420" b="1" i="0" u="none" strike="noStrike">
                <a:solidFill>
                  <a:srgbClr val="0A0A0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情绪(Mood)</a:t>
            </a:r>
            <a:endParaRPr lang="en-US" sz="44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1071000" y="4107600"/>
            <a:ext cx="3358706" cy="655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420" b="1" i="0" u="none" strike="noStrike">
                <a:solidFill>
                  <a:srgbClr val="0A0A0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语调(Tone)</a:t>
            </a:r>
            <a:endParaRPr lang="en-US" sz="44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1077840" y="4934160"/>
            <a:ext cx="264033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C22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故事的整体情感氛围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7496280" y="4934160"/>
            <a:ext cx="29337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C22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读者阅读时产生的情感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1106280" y="5353200"/>
            <a:ext cx="312039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C22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乐观、悲观、讽刺、怀旧等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7495200" y="5353200"/>
            <a:ext cx="312039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1C22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紧张、愉悦、悲伤、神秘等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3362400" y="5927400"/>
            <a:ext cx="6638544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1" i="0" u="none" strike="noStrike">
                <a:solidFill>
                  <a:srgbClr val="0E101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风格与声音决定了故事的独特性和感染力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图片 31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图片 313"/>
          <p:cNvPicPr/>
          <p:nvPr/>
        </p:nvPicPr>
        <p:blipFill>
          <a:blip r:embed="rId2"/>
          <a:stretch>
            <a:fillRect/>
          </a:stretch>
        </p:blipFill>
        <p:spPr>
          <a:xfrm>
            <a:off x="11192040" y="5791320"/>
            <a:ext cx="570960" cy="57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图片 31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06240" y="609480"/>
            <a:ext cx="110448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图片 315"/>
          <p:cNvPicPr/>
          <p:nvPr/>
        </p:nvPicPr>
        <p:blipFill>
          <a:blip r:embed="rId4"/>
          <a:stretch>
            <a:fillRect/>
          </a:stretch>
        </p:blipFill>
        <p:spPr>
          <a:xfrm>
            <a:off x="10534680" y="2362320"/>
            <a:ext cx="723600" cy="61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图片 316"/>
          <p:cNvPicPr/>
          <p:nvPr/>
        </p:nvPicPr>
        <p:blipFill>
          <a:blip r:embed="rId5"/>
          <a:stretch>
            <a:fillRect/>
          </a:stretch>
        </p:blipFill>
        <p:spPr>
          <a:xfrm>
            <a:off x="5114880" y="4753080"/>
            <a:ext cx="637920" cy="78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图片 317"/>
          <p:cNvPicPr/>
          <p:nvPr/>
        </p:nvPicPr>
        <p:blipFill>
          <a:blip r:embed="rId6"/>
          <a:stretch>
            <a:fillRect/>
          </a:stretch>
        </p:blipFill>
        <p:spPr>
          <a:xfrm>
            <a:off x="1200240" y="4667400"/>
            <a:ext cx="3857400" cy="2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文本框 318"/>
          <p:cNvSpPr txBox="1"/>
          <p:nvPr/>
        </p:nvSpPr>
        <p:spPr>
          <a:xfrm>
            <a:off x="603000" y="466200"/>
            <a:ext cx="224928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12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维度五:</a:t>
            </a:r>
            <a:endParaRPr lang="en-US" sz="4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601560" y="1146600"/>
            <a:ext cx="4926660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58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主题与主旨陈述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4699800" y="1159920"/>
            <a:ext cx="2411911" cy="67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458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("为何")</a:t>
            </a:r>
            <a:endParaRPr lang="en-US" sz="45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927360" y="2420280"/>
            <a:ext cx="4467186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230" b="1" i="0" u="none" strike="noStrike">
                <a:solidFill>
                  <a:srgbClr val="08080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主题概念与主旨陈述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7082280" y="2420280"/>
            <a:ext cx="2481770" cy="477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230" b="1" i="0" u="none" strike="noStrike">
                <a:solidFill>
                  <a:srgbClr val="09080A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主题的表达</a:t>
            </a:r>
            <a:endParaRPr lang="en-US" sz="32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929880" y="3289680"/>
            <a:ext cx="4871868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70" b="0" i="0" u="none" strike="noStrike">
                <a:solidFill>
                  <a:srgbClr val="15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主题:故事的核心思想或中心议题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7289280" y="3297960"/>
            <a:ext cx="4213352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14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通过人物行动和选择表达主题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1" name="文本框 330"/>
          <p:cNvSpPr txBox="1"/>
          <p:nvPr/>
        </p:nvSpPr>
        <p:spPr>
          <a:xfrm>
            <a:off x="929880" y="3870720"/>
            <a:ext cx="4139992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70" b="0" i="0" u="none" strike="noStrike">
                <a:solidFill>
                  <a:srgbClr val="15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主旨陈述:对主题的明确表达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7289280" y="3879000"/>
            <a:ext cx="32410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14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通过情节发展揭示主题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7290360" y="4479120"/>
            <a:ext cx="3565144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14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通过象征和隐喻强化主题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929880" y="5062680"/>
            <a:ext cx="2749206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0" i="0" u="none" strike="noStrike">
                <a:solidFill>
                  <a:srgbClr val="1516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主题类型:爱、正义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7113600" y="5070240"/>
            <a:ext cx="4320768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620" b="0" i="0" u="none" strike="noStrike">
                <a:solidFill>
                  <a:srgbClr val="14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AI控制:明确指定主题,指导AI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2453760" y="5478480"/>
            <a:ext cx="222885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1516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成长、复仇、自由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7" name="文本框 346"/>
          <p:cNvSpPr txBox="1"/>
          <p:nvPr/>
        </p:nvSpPr>
        <p:spPr>
          <a:xfrm>
            <a:off x="8344800" y="5469480"/>
            <a:ext cx="2916936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14151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生成符合主题的内容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579960" y="6264000"/>
            <a:ext cx="4037951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565C65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主题是故事的灵魂,赋予故事深度和意义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图片 35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图片 351"/>
          <p:cNvPicPr/>
          <p:nvPr/>
        </p:nvPicPr>
        <p:blipFill>
          <a:blip r:embed="rId2"/>
          <a:stretch>
            <a:fillRect/>
          </a:stretch>
        </p:blipFill>
        <p:spPr>
          <a:xfrm>
            <a:off x="6419880" y="4286160"/>
            <a:ext cx="2104560" cy="19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图片 352"/>
          <p:cNvPicPr/>
          <p:nvPr/>
        </p:nvPicPr>
        <p:blipFill>
          <a:blip r:embed="rId3"/>
          <a:stretch>
            <a:fillRect/>
          </a:stretch>
        </p:blipFill>
        <p:spPr>
          <a:xfrm>
            <a:off x="9448920" y="4286160"/>
            <a:ext cx="2104560" cy="199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图片 353"/>
          <p:cNvPicPr/>
          <p:nvPr/>
        </p:nvPicPr>
        <p:blipFill>
          <a:blip r:embed="rId4"/>
          <a:stretch>
            <a:fillRect/>
          </a:stretch>
        </p:blipFill>
        <p:spPr>
          <a:xfrm>
            <a:off x="8724960" y="5267160"/>
            <a:ext cx="40932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文本框 354"/>
          <p:cNvSpPr txBox="1"/>
          <p:nvPr/>
        </p:nvSpPr>
        <p:spPr>
          <a:xfrm>
            <a:off x="608760" y="276480"/>
            <a:ext cx="466923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00" b="0" i="0" u="none" strike="noStrike">
                <a:solidFill>
                  <a:srgbClr val="0E0D0D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正交性矩阵:维度的相互作用与独立性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605880" y="723600"/>
            <a:ext cx="4259732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A0B2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叙事空间的构想模型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785520" y="1311840"/>
            <a:ext cx="3017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将叙事视为多维空间中的点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784800" y="1654920"/>
            <a:ext cx="3520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每个维度代表一个独立的控制轴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5356800" y="1659960"/>
            <a:ext cx="49948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171B2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AI生成故事的过程是在这个空间中移动的轨迹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605880" y="2285640"/>
            <a:ext cx="2839821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A0B2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维度关系类型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4" name="文本框 363"/>
          <p:cNvSpPr txBox="1"/>
          <p:nvPr/>
        </p:nvSpPr>
        <p:spPr>
          <a:xfrm>
            <a:off x="814680" y="2865240"/>
            <a:ext cx="4409271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高度独立(近正交):维度之间相互影响小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9" name="文本框 368"/>
          <p:cNvSpPr txBox="1"/>
          <p:nvPr/>
        </p:nvSpPr>
        <p:spPr>
          <a:xfrm>
            <a:off x="813960" y="3200040"/>
            <a:ext cx="4325752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2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强相互依赖(耦合):维度之间紧密关联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814680" y="3569400"/>
            <a:ext cx="44789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微妙及二阶依赖关系:间接影响和复杂交互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7" name="文本框 376"/>
          <p:cNvSpPr txBox="1"/>
          <p:nvPr/>
        </p:nvSpPr>
        <p:spPr>
          <a:xfrm>
            <a:off x="605880" y="4190400"/>
            <a:ext cx="3786428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080" b="1" i="0" u="none" strike="noStrike">
                <a:solidFill>
                  <a:srgbClr val="0A0B2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叙事维度依赖矩阵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8" name="文本框 377"/>
          <p:cNvSpPr txBox="1"/>
          <p:nvPr/>
        </p:nvSpPr>
        <p:spPr>
          <a:xfrm>
            <a:off x="813960" y="4779000"/>
            <a:ext cx="37719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展示五个维度之间的相互依赖程度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9" name="文本框 378"/>
          <p:cNvSpPr txBox="1"/>
          <p:nvPr/>
        </p:nvSpPr>
        <p:spPr>
          <a:xfrm>
            <a:off x="814680" y="5131440"/>
            <a:ext cx="32689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帮助理解维度之间的复杂关系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814680" y="5474160"/>
            <a:ext cx="2461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191B2E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为AI控制提供理论基础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3" name="文本框 382"/>
          <p:cNvSpPr txBox="1"/>
          <p:nvPr/>
        </p:nvSpPr>
        <p:spPr>
          <a:xfrm>
            <a:off x="609480" y="6140520"/>
            <a:ext cx="488614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730" b="0" i="0" u="none" strike="noStrike">
                <a:solidFill>
                  <a:srgbClr val="191C2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理解维度相互作用是实现精确AI叙事控制的关键</a:t>
            </a:r>
            <a:endParaRPr lang="en-US" sz="17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图片 38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图片 386"/>
          <p:cNvPicPr/>
          <p:nvPr/>
        </p:nvPicPr>
        <p:blipFill>
          <a:blip r:embed="rId2"/>
          <a:stretch>
            <a:fillRect/>
          </a:stretch>
        </p:blipFill>
        <p:spPr>
          <a:xfrm>
            <a:off x="10153800" y="495360"/>
            <a:ext cx="147600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图片 387"/>
          <p:cNvPicPr/>
          <p:nvPr/>
        </p:nvPicPr>
        <p:blipFill>
          <a:blip r:embed="rId3"/>
          <a:stretch>
            <a:fillRect/>
          </a:stretch>
        </p:blipFill>
        <p:spPr>
          <a:xfrm>
            <a:off x="504720" y="5734080"/>
            <a:ext cx="666360" cy="75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图片 388"/>
          <p:cNvPicPr/>
          <p:nvPr/>
        </p:nvPicPr>
        <p:blipFill>
          <a:blip r:embed="rId4"/>
          <a:stretch>
            <a:fillRect/>
          </a:stretch>
        </p:blipFill>
        <p:spPr>
          <a:xfrm>
            <a:off x="7781760" y="4295880"/>
            <a:ext cx="523440" cy="50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图片 389"/>
          <p:cNvPicPr/>
          <p:nvPr/>
        </p:nvPicPr>
        <p:blipFill>
          <a:blip r:embed="rId5"/>
          <a:stretch>
            <a:fillRect/>
          </a:stretch>
        </p:blipFill>
        <p:spPr>
          <a:xfrm>
            <a:off x="8105760" y="1305000"/>
            <a:ext cx="169524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文本框 390"/>
          <p:cNvSpPr txBox="1"/>
          <p:nvPr/>
        </p:nvSpPr>
        <p:spPr>
          <a:xfrm>
            <a:off x="283680" y="151560"/>
            <a:ext cx="1568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08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AI实现:</a:t>
            </a:r>
            <a:endParaRPr lang="en-US" sz="3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4" name="文本框 393"/>
          <p:cNvSpPr txBox="1"/>
          <p:nvPr/>
        </p:nvSpPr>
        <p:spPr>
          <a:xfrm>
            <a:off x="283680" y="559440"/>
            <a:ext cx="4379595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85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从文学理论到可控向量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5" name="文本框 394"/>
          <p:cNvSpPr txBox="1"/>
          <p:nvPr/>
        </p:nvSpPr>
        <p:spPr>
          <a:xfrm>
            <a:off x="1186200" y="1359720"/>
            <a:ext cx="6085332" cy="730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9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维度的表示与控制</a:t>
            </a:r>
            <a:endParaRPr lang="en-US" sz="4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6" name="文本框 395"/>
          <p:cNvSpPr txBox="1"/>
          <p:nvPr/>
        </p:nvSpPr>
        <p:spPr>
          <a:xfrm>
            <a:off x="1222920" y="2250720"/>
            <a:ext cx="53644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通过提示工程与结构化输入进行控制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7" name="文本框 396"/>
          <p:cNvSpPr txBox="1"/>
          <p:nvPr/>
        </p:nvSpPr>
        <p:spPr>
          <a:xfrm>
            <a:off x="6527520" y="2250720"/>
            <a:ext cx="50292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通过模型架构与解码策略进行控制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8" name="文本框 397"/>
          <p:cNvSpPr txBox="1"/>
          <p:nvPr/>
        </p:nvSpPr>
        <p:spPr>
          <a:xfrm>
            <a:off x="7346520" y="2736720"/>
            <a:ext cx="4023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实现对每个维度的独立控制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9" name="文本框 398"/>
          <p:cNvSpPr txBox="1"/>
          <p:nvPr/>
        </p:nvSpPr>
        <p:spPr>
          <a:xfrm>
            <a:off x="1187640" y="2878200"/>
            <a:ext cx="6450867" cy="64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35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终极目标:解耦表示学习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2" name="文本框 401"/>
          <p:cNvSpPr txBox="1"/>
          <p:nvPr/>
        </p:nvSpPr>
        <p:spPr>
          <a:xfrm>
            <a:off x="1399320" y="3707280"/>
            <a:ext cx="48615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将叙事维度分解为独立的向量空间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3" name="文本框 402"/>
          <p:cNvSpPr txBox="1"/>
          <p:nvPr/>
        </p:nvSpPr>
        <p:spPr>
          <a:xfrm>
            <a:off x="7054920" y="3717720"/>
            <a:ext cx="40233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实现对每个维度的精确控制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4" name="文本框 403"/>
          <p:cNvSpPr txBox="1"/>
          <p:nvPr/>
        </p:nvSpPr>
        <p:spPr>
          <a:xfrm>
            <a:off x="2746800" y="4174920"/>
            <a:ext cx="3688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支持维度之间的自由组合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5" name="文本框 404"/>
          <p:cNvSpPr txBox="1"/>
          <p:nvPr/>
        </p:nvSpPr>
        <p:spPr>
          <a:xfrm>
            <a:off x="1215360" y="4912560"/>
            <a:ext cx="11034918" cy="730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495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现有AI写作平台及其控制机制概览</a:t>
            </a:r>
            <a:endParaRPr lang="en-US" sz="49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1340640" y="5793480"/>
            <a:ext cx="3883896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32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主流AI写作平台的控制方式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5385240" y="5784480"/>
            <a:ext cx="56997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各平台的优势与局限性 未来发展方向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2" name="文本框 411"/>
          <p:cNvSpPr txBox="1"/>
          <p:nvPr/>
        </p:nvSpPr>
        <p:spPr>
          <a:xfrm>
            <a:off x="3099960" y="6432840"/>
            <a:ext cx="6495815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70" b="0" i="0" u="none" strike="noStrike">
                <a:solidFill>
                  <a:srgbClr val="565A6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AI控制机制与叙事维度的映射是实现可控故事生成的关键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图片 4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图片 414"/>
          <p:cNvPicPr/>
          <p:nvPr/>
        </p:nvPicPr>
        <p:blipFill>
          <a:blip r:embed="rId2"/>
          <a:stretch>
            <a:fillRect/>
          </a:stretch>
        </p:blipFill>
        <p:spPr>
          <a:xfrm>
            <a:off x="8715240" y="1095480"/>
            <a:ext cx="2895120" cy="19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文本框 415"/>
          <p:cNvSpPr txBox="1"/>
          <p:nvPr/>
        </p:nvSpPr>
        <p:spPr>
          <a:xfrm>
            <a:off x="254880" y="204840"/>
            <a:ext cx="2818307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62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未来轨迹与建议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518040" y="864360"/>
            <a:ext cx="4817554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85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当前的局限性与伦理考量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文本框 417"/>
          <p:cNvSpPr txBox="1"/>
          <p:nvPr/>
        </p:nvSpPr>
        <p:spPr>
          <a:xfrm>
            <a:off x="313560" y="1538280"/>
            <a:ext cx="432502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8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·AI生成内容的原创性问题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5119920" y="1539360"/>
            <a:ext cx="2890695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850" b="0" i="0" u="none" strike="noStrike">
                <a:solidFill>
                  <a:srgbClr val="121315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·伦理和法律挑战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371520" y="2064240"/>
            <a:ext cx="318516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85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偏见和误导性内容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3" name="文本框 422"/>
          <p:cNvSpPr txBox="1"/>
          <p:nvPr/>
        </p:nvSpPr>
        <p:spPr>
          <a:xfrm>
            <a:off x="487800" y="2817720"/>
            <a:ext cx="6085732" cy="43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93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人机协作的未来:"半人马"式创作者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489240" y="3501360"/>
            <a:ext cx="339471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人类提供创意和方向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4328640" y="3509280"/>
            <a:ext cx="3352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AI执行具体生成任务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1" name="文本框 430"/>
          <p:cNvSpPr txBox="1"/>
          <p:nvPr/>
        </p:nvSpPr>
        <p:spPr>
          <a:xfrm>
            <a:off x="8168040" y="3492360"/>
            <a:ext cx="366263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0" i="0" u="none" strike="noStrike">
                <a:solidFill>
                  <a:srgbClr val="13131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实现1+1&gt;2的协同效应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488520" y="4264560"/>
            <a:ext cx="4241676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850" b="1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对AI创作者的行动建议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7" name="文本框 436"/>
          <p:cNvSpPr txBox="1"/>
          <p:nvPr/>
        </p:nvSpPr>
        <p:spPr>
          <a:xfrm>
            <a:off x="518760" y="4930920"/>
            <a:ext cx="2592424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掌握AI控制技巧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3889080" y="4930920"/>
            <a:ext cx="3603092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结合文学理论和AI技术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文本框 442"/>
          <p:cNvSpPr txBox="1"/>
          <p:nvPr/>
        </p:nvSpPr>
        <p:spPr>
          <a:xfrm>
            <a:off x="8402400" y="4930920"/>
            <a:ext cx="3495294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80" b="0" i="0" u="none" strike="noStrike">
                <a:solidFill>
                  <a:srgbClr val="131314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探索创新的叙事方式</a:t>
            </a:r>
            <a:endParaRPr lang="en-US" sz="27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文本框 443"/>
          <p:cNvSpPr txBox="1"/>
          <p:nvPr/>
        </p:nvSpPr>
        <p:spPr>
          <a:xfrm>
            <a:off x="488520" y="5720760"/>
            <a:ext cx="6035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0" i="0" u="none" strike="noStrike">
                <a:solidFill>
                  <a:srgbClr val="00000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人机协作是未来叙事创作的主流模式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图片 44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图片 445"/>
          <p:cNvPicPr/>
          <p:nvPr/>
        </p:nvPicPr>
        <p:blipFill>
          <a:blip r:embed="rId2"/>
          <a:stretch>
            <a:fillRect/>
          </a:stretch>
        </p:blipFill>
        <p:spPr>
          <a:xfrm>
            <a:off x="9220320" y="1628640"/>
            <a:ext cx="24732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图片 446"/>
          <p:cNvPicPr/>
          <p:nvPr/>
        </p:nvPicPr>
        <p:blipFill>
          <a:blip r:embed="rId3"/>
          <a:stretch>
            <a:fillRect/>
          </a:stretch>
        </p:blipFill>
        <p:spPr>
          <a:xfrm>
            <a:off x="2743200" y="44481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文本框 447"/>
          <p:cNvSpPr txBox="1"/>
          <p:nvPr/>
        </p:nvSpPr>
        <p:spPr>
          <a:xfrm>
            <a:off x="3783600" y="2405880"/>
            <a:ext cx="5489092" cy="1320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8930" b="1" i="0" u="none" strike="noStrike">
                <a:solidFill>
                  <a:srgbClr val="07214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感谢聆听</a:t>
            </a:r>
            <a:endParaRPr lang="en-US" sz="8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9" name="文本框 448"/>
          <p:cNvSpPr txBox="1"/>
          <p:nvPr/>
        </p:nvSpPr>
        <p:spPr>
          <a:xfrm>
            <a:off x="3129840" y="5675040"/>
            <a:ext cx="5896319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70" b="0" i="0" u="none" strike="noStrike">
                <a:solidFill>
                  <a:srgbClr val="1D274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解构叙事:AI长篇故事生成的可控维度框架·2025年6月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1937</Words>
  <Application>WPS 演示</Application>
  <PresentationFormat/>
  <Paragraphs>338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Symbol</vt:lpstr>
      <vt:lpstr>Noto Sans SC</vt:lpstr>
      <vt:lpstr>Times New Roman</vt:lpstr>
      <vt:lpstr>NotoSansCJKsc</vt:lpstr>
      <vt:lpstr>Segoe Print</vt:lpstr>
      <vt:lpstr>微软雅黑</vt:lpstr>
      <vt:lpstr>Arial Unicode MS</vt:lpstr>
      <vt:lpstr>Calibri</vt:lpstr>
      <vt:lpstr>DejaVu Sans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偏好，甲乙丙丁</cp:lastModifiedBy>
  <cp:revision>1</cp:revision>
  <dcterms:created xsi:type="dcterms:W3CDTF">2026-02-02T16:25:12Z</dcterms:created>
  <dcterms:modified xsi:type="dcterms:W3CDTF">2026-02-04T13:20:03Z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665A807DD2EF42C093B996B574161946_12</vt:lpwstr>
  </property>
</Properties>
</file>