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大家好，今天我将为大家带来关于UE EQS系统的深度设计分析。这份分析将遵循从问题本质到最终架构实现的逻辑，深入探讨EQS系统背后的设计哲学与工程智慧。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明确EQS要解决的核心问题是什么；接着，探讨其背后的四大方法论；然后，深入解析其三层架构的具体实现；之后，总结其设计哲学与启示；最后，回顾从问题到最终方案的完整推导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首先，让我们进入第一章，来看看EQS系统究竟要解决游戏开发中的什么根本性问题。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游戏中，AI需要不断进行空间位置的决策，比如战斗中找掩体、巡逻时选点、群体单位散开以及策略游戏中选择建筑位置。然而，传统的解决方案，无论是手动标记、硬编码还是预计算，都存在着灵活性差、维护成本高的问题，无法适应复杂多变的游戏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具体问题背后，反映的是三对核心矛盾：智能性与性能的矛盾，我们无法在不牺牲性能的情况下实现完美的智能；灵活性与维护成本的矛盾，灵活的需求变更会带来高昂的维护代价；以及通用性与专用性的矛盾，通用的解决方案往往不够高效，而专用方案又难以复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将这些矛盾和场景进行抽象，我们可以发现问题的本质：这是一个在运行时进行的、基于多维度标准的动态环境空间推理与最优解选择问题。它具体拆解为信息检索、多目标优化和实时计算三个技术挑战。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明确了问题本质，我们来看第二章，EPIC是如何通过四大核心方法论来解决这些挑战的。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方法论，是借鉴人类的决策模型。我们可以思考一下自己是如何选择餐厅的：首先确定范围，然后找出候选，接着从多个维度打分，最后根据个人偏好加权选择。EQS正是模仿了这一过程，将“圈定范围”对应为Context，“生成候选”对应为Generator，“多维度评分”对应为Test，“加权决策”对应为Finalize组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方法论，是借鉴成熟的数据库查询范式。传统的硬编码方式直接告诉程序“去第五个预设的掩体点”，而EQS则采用声明式的方式，像写SQL语句一样，告诉系统“我需要在我周围生成网格，从中找出距离敌人10到30米、有掩体且不被敌人看见的最佳位置”。这种方式更灵活、更易读，也更易于组合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方法论，是借鉴工业流水线的批量生产模式。EQS的执行过程就像一条汽车生产线，Context是原材料，各个Test是不同的质检工位，最终输出的是合格的结果。这种模式的优势在于可以进行批量处理和流水线筛选，并且支持异步执行，从而极大地提升了效率和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第四个，也是软件工程中非常重要的一个原则：分离关注点。EQS清晰地将需求定义、查询配置、执行调度和算法实现这四个关注点分离开来。策划负责提需求和配置Query Asset，程序员负责实现Test和Generator，Manager负责调度执行。这种高度的解耦，使得不同角色可以并行工作，极大地提升了开发效率和系统的可维护性。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了解了四大方法论，接下来我们进入第三章，看看这些方法论是如何具体落地到EQS的三层系统架构中的。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这就是EQS的整体三层架构。最上层是声明层，由策划通过Query Asset进行配置；中间是调度层，由UEnvQueryManager负责任务的异步管理；最下层是执行层，通过一个流水线来具体执行查询的每一个步骤。这三层结构清晰地体现了我们之前提到的分离关注点原则。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我们先看声明层的核心组件。一个完整的Query Asset由Context、Generator、Test和ItemType组成。Context确定了“相对于谁”，Generator确定了“在哪些地方找”，Test确定了“用什么标准来评判”，而ItemType则确定了“最终要的是什么类型的结果”。这四个部分共同构成了一个完整的查询指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在调度层，UEnvQueryManager扮演着异步任务调度器的角色，通过对象池、跨帧执行、优先级队列和缓存等机制，确保了查询的高效和稳定。而在执行层，Evaluation Pipeline则严格按照解析上下文、生成候选、评估筛选、合成结果这四个步骤来执行每一个查询，这个过程就像我们之前类比的流水线一样，有条不紊。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分析完具体的架构实现，我们进入第四章，来探讨EQS背后所蕴含的设计哲学，以及我们能从中学到的通用智慧。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QS的设计哲学可以总结为四个核心原则：声明大于命令，这让代码更清晰、更易维护；组合大于继承，这让系统更灵活、更具扩展性；延迟大于即时，这是保证高性能的关键；以及数据大于逻辑，这让非技术人员也能参与到AI行为的设计中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设计原则不仅适用于EQS，也为我们提供了通用的设计智慧。当你的系统面临从大量候选中选最优、需要多维度评分、要求非技术人员可配置且对性能敏感时，就可以参考EQS的设计模式。同时，我们也要警惕一些反模式，比如混淆实现与理念、为了抽象而抽象，以及忽视性能的早期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最后，让我们对整个分析做一个总结，回顾从问题到最终解决方案的完整推导路径。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整个过程，EQS的诞生并非偶然。它始于对游戏AI空间决策这一现实问题的深刻洞察，抽象出了其背后的核心矛盾，然后巧妙地借鉴了多个领域的成熟方法论，最终落地为一个分层清晰、职责明确的三层架构，并成功解决了最初的问题，实现了策划友好、高性能、高复用性的目标。这正是一个优秀系统设计的典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jpeg" Type="http://schemas.openxmlformats.org/officeDocument/2006/relationships/image"/><Relationship Id="rId8" Target="../media/image20.jpe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29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4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36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notesSlides/notesSlide9.xml" Type="http://schemas.openxmlformats.org/officeDocument/2006/relationships/notesSlide"/><Relationship Id="rId2" Target="../media/image45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notesSlides/notesSlide10.xml" Type="http://schemas.openxmlformats.org/officeDocument/2006/relationships/notesSlide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1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67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68.png" Type="http://schemas.openxmlformats.org/officeDocument/2006/relationships/image"/><Relationship Id="rId6" Target="../media/image69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2.jpe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7.jpeg" Type="http://schemas.openxmlformats.org/officeDocument/2006/relationships/image"/><Relationship Id="rId3" Target="../media/image78.jpeg" Type="http://schemas.openxmlformats.org/officeDocument/2006/relationships/image"/><Relationship Id="rId4" Target="../media/image79.jpeg" Type="http://schemas.openxmlformats.org/officeDocument/2006/relationships/image"/><Relationship Id="rId5" Target="../media/image80.jpeg" Type="http://schemas.openxmlformats.org/officeDocument/2006/relationships/image"/><Relationship Id="rId6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notesSlides/notesSlide15.xml" Type="http://schemas.openxmlformats.org/officeDocument/2006/relationships/notesSlide"/><Relationship Id="rId2" Target="../media/image81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2.svg" Type="http://schemas.openxmlformats.org/officeDocument/2006/relationships/image"/><Relationship Id="rId11" Target="../notesSlides/notesSlide17.xml" Type="http://schemas.openxmlformats.org/officeDocument/2006/relationships/notesSlide"/><Relationship Id="rId2" Target="../media/image88.jpe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3.jpeg" Type="http://schemas.openxmlformats.org/officeDocument/2006/relationships/image"/><Relationship Id="rId3" Target="../media/image94.png" Type="http://schemas.openxmlformats.org/officeDocument/2006/relationships/image"/><Relationship Id="rId4" Target="../media/image95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svg" Type="http://schemas.openxmlformats.org/officeDocument/2006/relationships/image"/><Relationship Id="rId12" Target="../notesSlides/notesSlide20.xml" Type="http://schemas.openxmlformats.org/officeDocument/2006/relationships/notesSlide"/><Relationship Id="rId2" Target="../media/image98.png" Type="http://schemas.openxmlformats.org/officeDocument/2006/relationships/image"/><Relationship Id="rId3" Target="../media/image99.svg" Type="http://schemas.openxmlformats.org/officeDocument/2006/relationships/image"/><Relationship Id="rId4" Target="../media/image100.png" Type="http://schemas.openxmlformats.org/officeDocument/2006/relationships/image"/><Relationship Id="rId5" Target="../media/image101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02.png" Type="http://schemas.openxmlformats.org/officeDocument/2006/relationships/image"/><Relationship Id="rId9" Target="../media/image10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1.xml" Type="http://schemas.openxmlformats.org/officeDocument/2006/relationships/notesSlide"/><Relationship Id="rId4" Target="../media/image10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UE EQS 设计分析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从问题本质到架构实现的深度解析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762040" y="253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334000" y="13970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588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032500" y="14986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问题本质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892B0"/>
                </a:solidFill>
                <a:latin typeface="Noto Sans SC"/>
                <a:ea typeface="Noto Sans SC"/>
                <a:cs typeface="Noto Sans SC"/>
                <a:sym typeface="Noto Sans SC"/>
              </a:rPr>
              <a:t>游戏AI的空间决策困境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23495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588000" y="2603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032500" y="24511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解决之道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892B0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四大核心方法论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0" y="33020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588000" y="3556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032500" y="34036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03 架构实现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892B0"/>
                </a:solidFill>
                <a:latin typeface="Noto Sans SC"/>
                <a:ea typeface="Noto Sans SC"/>
                <a:cs typeface="Noto Sans SC"/>
                <a:sym typeface="Noto Sans SC"/>
              </a:rPr>
              <a:t>三层系统架构解析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42545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5588000" y="4508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032500" y="43561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04 设计哲学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892B0"/>
                </a:solidFill>
                <a:latin typeface="Noto Sans SC"/>
                <a:ea typeface="Noto Sans SC"/>
                <a:cs typeface="Noto Sans SC"/>
                <a:sym typeface="Noto Sans SC"/>
              </a:rPr>
              <a:t>EPIC的智慧与启示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34000" y="52070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5588000" y="5461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032500" y="53086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892B0"/>
                </a:solidFill>
                <a:latin typeface="Noto Sans SC"/>
                <a:ea typeface="Noto Sans SC"/>
                <a:cs typeface="Noto Sans SC"/>
                <a:sym typeface="Noto Sans SC"/>
              </a:rPr>
              <a:t>从问题到方案的推导路径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2413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 spc="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 / CHAPTER 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问题本质：游戏AI的空间决策困境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74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AI空间决策的典型场景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1905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968500" y="1905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战斗AI：动态掩体选择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68500" y="2349500"/>
            <a:ext cx="203200" cy="203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222500" y="23241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问题：敌人应该躲在哪个掩体后？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968500" y="26670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222500" y="2641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困境：传统方案手动放置掩体点，环境改变后即失效。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477000" y="1905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7429500" y="1905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巡逻AI：智能路径规划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429500" y="23495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683500" y="23241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问题：NPC下一个巡逻点应该选在哪？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429500" y="2667000"/>
            <a:ext cx="203200" cy="203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683500" y="2641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困境：传统方案硬编码路径，关卡调整后需修改代码。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1016000" y="4445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1968500" y="4445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群体AI：动态空间分布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68500" y="48895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222500" y="48641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问题：100个单位如何智能散开避免重叠？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968500" y="5207000"/>
            <a:ext cx="203200" cy="203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2222500" y="5181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困境：传统方案依赖预计算位置，无法应对动态场景。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6477000" y="4445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7429500" y="4445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策略AI：建筑选址决策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429500" y="4889500"/>
            <a:ext cx="203200" cy="203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683500" y="48641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问题：最佳的建筑位置应该建在哪里？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429500" y="52070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683500" y="5181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困境：传统方案由程序员写死规则，策划无法灵活调整。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三重核心矛盾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智能性 vs 性能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626" flipH="false" flipV="false">
            <a:off x="1016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798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429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暴力遍历追求高智能导致性能崩溃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9878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70000" y="3937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预烘焙方案高性能但无法应对动态环境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699000" y="273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灵活性 vs 维护成本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4699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34798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953000" y="3429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硬编码逻辑直接但修改困难，缺乏灵活性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39878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953000" y="3937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手工标记直观但维护成本极高，易出错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382000" y="273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通用性 vs 专用性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5626" flipH="false" flipV="false">
            <a:off x="8382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5" id="2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82000" y="34798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636000" y="3429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单独编写功能逻辑导致代码重复，复用性差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82000" y="3987800"/>
            <a:ext cx="203200" cy="203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636000" y="3937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超级抽象类试图解决所有问题，导致复杂度失控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问题本质的抽象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1651000"/>
            <a:ext cx="8890000" cy="1524000"/>
          </a:xfrm>
          <a:prstGeom prst="roundRect">
            <a:avLst>
              <a:gd name="adj" fmla="val 8333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05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413000" y="1841500"/>
            <a:ext cx="787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核心定义：动态环境的空间推理与最优解选择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222500"/>
            <a:ext cx="812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AI需要在运行时，对动态环境进行“空间推理”，并根据多维度标准选出“最优位置”。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5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信息检索问题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1016014" y="431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445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在三维空间中快速检索符合条件的位置，涉及复杂的几何判断与数据结构查询。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355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99000" y="3810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2070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多目标优化问题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4699014" y="431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699000" y="4445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需要同时平衡距离、掩护、视野等多个相互冲突的目标，寻找帕累托最优解。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355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3810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8900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实时计算问题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5626" flipH="false" flipV="false">
            <a:off x="8382014" y="431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382000" y="4445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所有计算必须在毫秒级内完成，以保证游戏或系统的流畅运行，对算法效率要求极高。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413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解决之道：四大核心方法论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4376" flipH="false" flipV="false">
            <a:off x="5461032" y="3486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374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D2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METHODOLOGY OVERVIEW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方法论1：人类决策模型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人类选择餐厅的决策流程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14374" r="14374" t="0" b="0"/>
          <a:stretch>
            <a:fillRect/>
          </a:stretch>
        </p:blipFill>
        <p:spPr>
          <a:xfrm rot="0" flipH="false" flipV="false">
            <a:off x="889000" y="2159000"/>
            <a:ext cx="4826000" cy="3810000"/>
          </a:xfrm>
          <a:prstGeom prst="roundRect">
            <a:avLst>
              <a:gd name="adj" fmla="val 333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223000" y="1524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EQS 组件映射体系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2032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13500" y="2222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048500" y="2095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Context (参考系)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对应人类行为：圈定范围（如附近2公里）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048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32385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048500" y="3111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Generator (生成策略)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对应人类行为：生成候选（收集5家餐厅）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064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13500" y="42545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48500" y="4127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Test (评分规则链)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对应人类行为：多维度评分（口味/价格/环境）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5080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52705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5143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Finalize (结果合成)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对应人类行为：加权决策（根据偏好选择最优）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方法论2：数据库查询范式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1435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84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传统硬编码思维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18" flipH="false" flipV="false">
            <a:off x="1016009" y="2279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413000"/>
            <a:ext cx="46355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2540000"/>
            <a:ext cx="43815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Vector3 coverPos =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GetPredefinedCoverPoint(5);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// 直接指定具体位置，缺乏灵活性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651000"/>
            <a:ext cx="51435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879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184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EQS 查询思维 (声明式)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18" flipH="false" flipV="false">
            <a:off x="6540509" y="2279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2413000"/>
            <a:ext cx="46355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67500" y="2540000"/>
            <a:ext cx="43815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SELECT</a:t>
            </a:r>
            <a:r>
              <a:rPr lang="en-US" b="false" i="false" strike="noStrike" u="none" sz="13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position</a:t>
            </a:r>
            <a:r>
              <a:rPr lang="en-US" b="false" i="false" strike="noStrike" u="none" sz="13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b="false" i="false" strike="noStrike" u="none" sz="13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[Grid Around Me]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WHERE</a:t>
            </a:r>
            <a:r>
              <a:rPr lang="en-US" b="false" i="false" strike="noStrike" u="none" sz="13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dist_enemy BETWEEN 10 AND 30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AND has_cover = true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ORDER BY</a:t>
            </a:r>
            <a:r>
              <a:rPr lang="en-US" b="false" i="false" strike="noStrike" u="none" sz="13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cover_quality DESC</a:t>
            </a:r>
            <a:r>
              <a:rPr lang="en-US" b="false" i="false" strike="noStrike" u="none" sz="13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LIMIT</a:t>
            </a:r>
            <a:r>
              <a:rPr lang="en-US" b="false" i="false" strike="noStrike" u="none" sz="13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953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460500" y="5143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声明式设计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588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描述“我要什么”而非“怎么做”，逻辑更直观。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81500" y="4953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35500" y="5143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080000" y="5143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灵活的执行时机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35500" y="5588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查询只是配置，真正执行可异步或按需触发。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01000" y="4953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64FFDA">
              <a:alpha val="1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255000" y="51435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699500" y="5143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高度可组合性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0" y="5588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条件可以像SQL的WHERE子句一样灵活叠加。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方法论3：工业流水线模型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6858000" cy="4318000"/>
          </a:xfrm>
          <a:prstGeom prst="roundRect">
            <a:avLst>
              <a:gd name="adj" fmla="val 2941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415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汽车质检流水线 ⇌ EQS 执行流程映射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26888" b="26888"/>
          <a:stretch>
            <a:fillRect/>
          </a:stretch>
        </p:blipFill>
        <p:spPr>
          <a:xfrm rot="0" flipH="false" flipV="false">
            <a:off x="1016000" y="2286000"/>
            <a:ext cx="6350000" cy="1651000"/>
          </a:xfrm>
          <a:prstGeom prst="rect">
            <a:avLst/>
          </a:prstGeom>
          <a:noFill/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4127500"/>
            <a:ext cx="3048000" cy="762000"/>
          </a:xfrm>
          <a:prstGeom prst="roundRect">
            <a:avLst>
              <a:gd name="adj" fmla="val 8333"/>
            </a:avLst>
          </a:prstGeom>
          <a:solidFill>
            <a:srgbClr val="64FFD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4254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4191000"/>
            <a:ext cx="241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原材料仓库 → Context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上下文解析，准备查询环境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0" y="4127500"/>
            <a:ext cx="3048000" cy="762000"/>
          </a:xfrm>
          <a:prstGeom prst="roundRect">
            <a:avLst>
              <a:gd name="adj" fmla="val 8333"/>
            </a:avLst>
          </a:prstGeom>
          <a:solidFill>
            <a:srgbClr val="64FFD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318000" y="4254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4191000"/>
            <a:ext cx="241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外观/性能检查 → Test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Distance/Cover/Threat 多维测试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016500"/>
            <a:ext cx="6223000" cy="762000"/>
          </a:xfrm>
          <a:prstGeom prst="roundRect">
            <a:avLst>
              <a:gd name="adj" fmla="val 8333"/>
            </a:avLst>
          </a:prstGeom>
          <a:solidFill>
            <a:srgbClr val="64FFD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5143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5080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合格品出库 → Result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综合各项测试指标，合成最终查询结果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1651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841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核心设计策略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28000" y="2413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636000" y="2387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批量处理模式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一次生成多个候选点，而非逐个查询，提升吞吐量。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128000" y="3302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636000" y="3276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流水线筛选机制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每个Test独立负责一个维度，支持串行或并行执行筛选。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28000" y="4191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636000" y="4165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异步生产架构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不阻塞主线程，计算结果就绪后通过回调返回。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方法论4：分离关注点原则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524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032000"/>
                <a:gridCol w="3048000"/>
                <a:gridCol w="3556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64FF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关注点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64FF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64FF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EQS组件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64FF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需求定义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策划/设计师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A0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“我需要找掩体”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查询配置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Query Asset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Environment Query Asset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餐饮点评APP的筛选器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执行调度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Manager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UEnvQueryManager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外卖平台的订单系统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算法实现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Test/Generator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Evaluation Pipeline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6F1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餐厅的后厨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4572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45339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解耦带来的核心价值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0165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5207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51816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策划独立工作流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策划可独立调整参数，无需程序员介入，提升迭代效率。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50165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84700" y="520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02200" y="51816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算法与配置隔离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程序可独立优化底层算法逻辑，完全不影响上层策划配置。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50165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216900" y="5207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534400" y="51816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高可扩展性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新增功能只需开发新的Test插件，系统架构灵活且易于维护。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 架构实现：三层系统架构解析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374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DC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SYSTEM ARCHITECTURE IMPLEMENTATION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EQS整体架构图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4444" b="14444"/>
          <a:stretch>
            <a:fillRect/>
          </a:stretch>
        </p:blipFill>
        <p:spPr>
          <a:xfrm rot="0" flipH="false" flipV="false">
            <a:off x="2286000" y="1524000"/>
            <a:ext cx="7620000" cy="3048000"/>
          </a:xfrm>
          <a:prstGeom prst="roundRect">
            <a:avLst>
              <a:gd name="adj" fmla="val 4166"/>
            </a:avLst>
          </a:prstGeom>
          <a:noFill/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4826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172A45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4978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声明层 (Asset)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539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由策划配置的查询蓝图，相当于SQL语句，驱动整个架构的运行。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4826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172A45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5016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16500" y="4978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调度层 (Manager)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539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核心引擎UEnvQueryManager，负责任务的异步执行、调度和生命周期管理。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4826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172A45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501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99500" y="4978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执行层 (Pipeline)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539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具体执行查询的流水线，包含上下文解析、候选生成及结果合成。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核心组件职责：声明层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476500" cy="4064000"/>
          </a:xfrm>
          <a:prstGeom prst="roundRect">
            <a:avLst>
              <a:gd name="adj" fmla="val 5128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231900" y="2032000"/>
            <a:ext cx="1524000" cy="1524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683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127500"/>
            <a:ext cx="2222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定义查询的参考系，如“相对于我”、“相对于敌人”。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92500" y="1778000"/>
            <a:ext cx="2476500" cy="4064000"/>
          </a:xfrm>
          <a:prstGeom prst="roundRect">
            <a:avLst>
              <a:gd name="adj" fmla="val 5128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3962400" y="2032000"/>
            <a:ext cx="1524000" cy="1524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3619500" y="3683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Generator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4127500"/>
            <a:ext cx="2222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定义候选点的生成策略，如网格生成、圆形生成、路径生成。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2476500" cy="4064000"/>
          </a:xfrm>
          <a:prstGeom prst="roundRect">
            <a:avLst>
              <a:gd name="adj" fmla="val 5128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692900" y="2032000"/>
            <a:ext cx="1524000" cy="1524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6350000" y="3683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Test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127500"/>
            <a:ext cx="2222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定义对候选点的评分规则链，如距离测试、射线检测、方向测试。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53500" y="1778000"/>
            <a:ext cx="2476500" cy="4064000"/>
          </a:xfrm>
          <a:prstGeom prst="roundRect">
            <a:avLst>
              <a:gd name="adj" fmla="val 5128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423400" y="2032000"/>
            <a:ext cx="1524000" cy="1524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9080500" y="3683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ItemType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80500" y="4127500"/>
            <a:ext cx="2222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定义查询结果的类型，可以是位置、Actor或者方向。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核心组件职责：调度层与执行层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172A45">
              <a:alpha val="6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UEnvQueryManager (调度层)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18" flipH="false" flipV="false">
            <a:off x="10160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25654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Instance池管理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复用查询实例，避免频繁内存分配，降低GC开销。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2639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跨帧执行机制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将计算量分摊到多帧，防止主线程卡顿，保证流畅度。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39624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优先级队列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基于优先级调度任务，确保关键AI查询优先响应。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699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6609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智能缓存机制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短时间内相同查询复用结果，大幅提升性能。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865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172A45">
              <a:alpha val="60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215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Evaluation Pipeline (执行层)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18" flipH="false" flipV="false">
            <a:off x="65405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540500" y="2540000"/>
            <a:ext cx="4635500" cy="3302000"/>
          </a:xfrm>
          <a:prstGeom prst="roundRect">
            <a:avLst>
              <a:gd name="adj" fmla="val 1923"/>
            </a:avLst>
          </a:prstGeom>
          <a:solidFill>
            <a:srgbClr val="000000">
              <a:alpha val="4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67500" y="2667000"/>
            <a:ext cx="43815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 Execute() {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60000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1. 解析上下文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TArray&lt;UObject*&gt; Ctx = ResolveContext();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60000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2. 生成候选项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TArray&lt;FVector&gt; Items = Gen-&gt;Generate(Ctx);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60000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3. 评估筛选 (Run all Tests)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 (Test : Tests) Test-&gt;Run(Items, Ctx);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>
                    <a:alpha val="60000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4. 合成最终结果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6F1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FVector Best = Finalize(Items);</a:t>
            </a:r>
            <a:r>
              <a:rPr lang="en-US" b="false" i="false" strike="noStrike" u="none" sz="12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FFD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设计哲学：EPIC的智慧与启示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746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EQS的核心设计原则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声明大于命令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描述“要什么”而非“怎么做”，如用Query Asset代替硬编码的位置获取，使意图更清晰。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190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组合大于继承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通过组合不同的Generator和Test来实现功能，而非继承庞大的基类，提升系统灵活性。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延迟大于即时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291" flipH="false" flipV="false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501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查询在需要时才执行，支持异步和跨帧处理，有效避免不必要的性能开销。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数据大于逻辑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291" flipH="false" flipV="false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477000" y="501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AI行为逻辑主要体现在Query Asset的配置数据中，策划可独立调整，无需修改代码。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通用设计智慧与反模式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3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适用场景识别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766" flipH="false" flipV="false">
            <a:off x="1066809" y="2406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6670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2641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需要从大量候选中选出“最优”方案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31750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149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业务逻辑需要多个独立维度的综合评分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36830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3657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配置规则需要面向非技术人员开放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4191000"/>
            <a:ext cx="203200" cy="203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165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系统运行时对性能有较高敏感度要求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19558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193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反模式警告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766" flipH="false" flipV="false">
            <a:off x="6654809" y="2406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26670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2641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切勿将具体的实现结构等同于核心设计理念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31750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85000" y="3149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拒绝为了抽象而抽象，所有抽象必须源于真实需求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36830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85000" y="36576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不要忽视性能设计，异步处理与批量计算应作为前提而非事后优化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总结：从问题到方案的推导路径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2286000" y="3619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D2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Review of Problem Analysis and Solution Path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总结：完整的推导路径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542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778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 现实问题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75000" y="1778000"/>
            <a:ext cx="800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游戏AI需要在动态环境中智能选择空间位置，面临复杂的空间决策挑战。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590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794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27178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核心矛盾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75000" y="2717800"/>
            <a:ext cx="800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抽象出三大核心矛盾：智能性vs性能、灵活性vs维护成本、通用性vs专用性。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30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733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3657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 方法论借鉴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175000" y="3657600"/>
            <a:ext cx="800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跨界汲取灵感：人类决策逻辑、数据库查询机制、工业流水线与关注点分离原则。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470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6736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74800" y="45974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04 技术实现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175000" y="4597400"/>
            <a:ext cx="800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构建分层架构：声明层定义需求，调度层优化计算，执行层负责具体操作。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410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E6F1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6134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74800" y="55372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05 实际效果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175000" y="5537200"/>
            <a:ext cx="800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达成策划可配置、性能可控、逻辑可复用、动态响应的优秀AI系统目标。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81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D2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感谢大家的聆听与关注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